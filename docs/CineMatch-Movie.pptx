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98" y="1353622"/>
            <a:ext cx="3019425" cy="12580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17814" y="1305044"/>
            <a:ext cx="204108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863798" y="3178373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AC9E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CineMatch</a:t>
            </a:r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Movie </a:t>
            </a:r>
            <a:endParaRPr lang="en-US" sz="3850" dirty="0"/>
          </a:p>
        </p:txBody>
      </p:sp>
      <p:sp>
        <p:nvSpPr>
          <p:cNvPr id="6" name="Text 2"/>
          <p:cNvSpPr/>
          <p:nvPr/>
        </p:nvSpPr>
        <p:spPr>
          <a:xfrm>
            <a:off x="863798" y="3878223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Recommender</a:t>
            </a:r>
            <a:endParaRPr lang="en-US" sz="3850" dirty="0"/>
          </a:p>
        </p:txBody>
      </p:sp>
      <p:sp>
        <p:nvSpPr>
          <p:cNvPr id="7" name="Text 3"/>
          <p:cNvSpPr/>
          <p:nvPr/>
        </p:nvSpPr>
        <p:spPr>
          <a:xfrm>
            <a:off x="863798" y="4578072"/>
            <a:ext cx="5587603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8C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Agent de recommandation sémantique et génératif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63798" y="5515332"/>
            <a:ext cx="5587603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Soutenance de projet IA — EFREI Paris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Mastère Data Engineering et IA · Année universitaire 2025–2027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63798" y="6730127"/>
            <a:ext cx="1706404" cy="38862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/>
        </p:spPr>
      </p:sp>
      <p:sp>
        <p:nvSpPr>
          <p:cNvPr id="10" name="Text 6"/>
          <p:cNvSpPr/>
          <p:nvPr/>
        </p:nvSpPr>
        <p:spPr>
          <a:xfrm>
            <a:off x="993338" y="6794897"/>
            <a:ext cx="144732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CHUEMBOU ADRIEN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678073" y="6730127"/>
            <a:ext cx="1110020" cy="38862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/>
        </p:spPr>
      </p:sp>
      <p:sp>
        <p:nvSpPr>
          <p:cNvPr id="12" name="Text 8"/>
          <p:cNvSpPr/>
          <p:nvPr/>
        </p:nvSpPr>
        <p:spPr>
          <a:xfrm>
            <a:off x="2807613" y="6794897"/>
            <a:ext cx="85094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QUANG DAT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03565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Problématique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948934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 moteurs de recommandation classiques reposent sur des filtres simples — genre, mots-clés, popularité — et restent aveugles aux nuances profondes qui définissent véritablement l'expérience cinématographique.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08184" y="2839760"/>
            <a:ext cx="6499146" cy="3347323"/>
          </a:xfrm>
          <a:prstGeom prst="roundRect">
            <a:avLst>
              <a:gd name="adj" fmla="val 968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924044" y="3082647"/>
            <a:ext cx="6067425" cy="2861548"/>
          </a:xfrm>
          <a:prstGeom prst="roundRect">
            <a:avLst>
              <a:gd name="adj" fmla="val 5113"/>
            </a:avLst>
          </a:prstGeom>
          <a:solidFill>
            <a:srgbClr val="1A1A1A"/>
          </a:solidFill>
          <a:ln w="3048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3564" y="3082647"/>
            <a:ext cx="121920" cy="2861548"/>
          </a:xfrm>
          <a:prstGeom prst="roundRect">
            <a:avLst>
              <a:gd name="adj" fmla="val 26572"/>
            </a:avLst>
          </a:prstGeom>
          <a:solidFill>
            <a:srgbClr val="FF8C42"/>
          </a:solidFill>
          <a:ln/>
        </p:spPr>
      </p:sp>
      <p:sp>
        <p:nvSpPr>
          <p:cNvPr id="7" name="Text 5"/>
          <p:cNvSpPr/>
          <p:nvPr/>
        </p:nvSpPr>
        <p:spPr>
          <a:xfrm>
            <a:off x="1261824" y="3328987"/>
            <a:ext cx="252507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Approche classique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61824" y="3851553"/>
            <a:ext cx="5483304" cy="1846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Filtres par genre et mots-clés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Matching par popularité ou notes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Ignore l'ambiance et le rythme narratif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Deux utilisateurs reçoivent les mêmes résultats pour la même requête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30691" y="2839760"/>
            <a:ext cx="6499146" cy="3347323"/>
          </a:xfrm>
          <a:prstGeom prst="roundRect">
            <a:avLst>
              <a:gd name="adj" fmla="val 968"/>
            </a:avLst>
          </a:prstGeom>
          <a:solidFill>
            <a:srgbClr val="AC9EF5"/>
          </a:solidFill>
          <a:ln/>
        </p:spPr>
      </p:sp>
      <p:sp>
        <p:nvSpPr>
          <p:cNvPr id="10" name="Shape 8"/>
          <p:cNvSpPr/>
          <p:nvPr/>
        </p:nvSpPr>
        <p:spPr>
          <a:xfrm>
            <a:off x="7646551" y="3082647"/>
            <a:ext cx="6067425" cy="2537579"/>
          </a:xfrm>
          <a:prstGeom prst="roundRect">
            <a:avLst>
              <a:gd name="adj" fmla="val 5765"/>
            </a:avLst>
          </a:prstGeom>
          <a:solidFill>
            <a:srgbClr val="AC9EF5"/>
          </a:solidFill>
          <a:ln w="30480">
            <a:solidFill>
              <a:srgbClr val="0A0A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071" y="3082647"/>
            <a:ext cx="121920" cy="2537579"/>
          </a:xfrm>
          <a:prstGeom prst="roundRect">
            <a:avLst>
              <a:gd name="adj" fmla="val 26572"/>
            </a:avLst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984331" y="3328987"/>
            <a:ext cx="286523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Approche sémantique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84331" y="3851553"/>
            <a:ext cx="5483304" cy="15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Compréhension du sens en langage naturel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Capture la tonalité émotionnelle et le style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Profil utilisateur unique et personnalisé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Explicabilité des recommandations proposées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3798" y="6429970"/>
            <a:ext cx="12902803" cy="895945"/>
          </a:xfrm>
          <a:prstGeom prst="roundRect">
            <a:avLst>
              <a:gd name="adj" fmla="val 3616"/>
            </a:avLst>
          </a:prstGeom>
          <a:solidFill>
            <a:srgbClr val="26262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59" y="6739414"/>
            <a:ext cx="269915" cy="2158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65434" y="6699766"/>
            <a:ext cx="1198530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vrai enjeu : comprendre le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d'une demande, pas seulement ses mots-clés.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108" y="1066324"/>
            <a:ext cx="4049792" cy="50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Objectifs du projet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199108" y="1792962"/>
            <a:ext cx="7718584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CineMatch vise à combiner pertinence, personnalisation et explicabilité dans un système démontrable de bout en bout.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99108" y="2446258"/>
            <a:ext cx="7718584" cy="1069062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22860">
            <a:solidFill>
              <a:srgbClr val="FF8C4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21968" y="2469118"/>
            <a:ext cx="712708" cy="102334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7" name="Text 4"/>
          <p:cNvSpPr/>
          <p:nvPr/>
        </p:nvSpPr>
        <p:spPr>
          <a:xfrm>
            <a:off x="6444734" y="2813685"/>
            <a:ext cx="26717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081599" y="2647236"/>
            <a:ext cx="2579965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Comprendre l'utilisateur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081599" y="2988469"/>
            <a:ext cx="6635115" cy="24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Transformer une demande libre en langage naturel en profil sémantique exploitable.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108" y="3662243"/>
            <a:ext cx="7718584" cy="1069062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22860">
            <a:solidFill>
              <a:srgbClr val="FF8C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21968" y="3685103"/>
            <a:ext cx="712708" cy="102334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2" name="Text 9"/>
          <p:cNvSpPr/>
          <p:nvPr/>
        </p:nvSpPr>
        <p:spPr>
          <a:xfrm>
            <a:off x="6444734" y="4029670"/>
            <a:ext cx="26717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081599" y="3863221"/>
            <a:ext cx="314872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Recommander avec précision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081599" y="4204454"/>
            <a:ext cx="6635115" cy="24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Retourner les 3 films les plus pertinents grâce à un scoring multi-axes pondéré.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108" y="4878229"/>
            <a:ext cx="7718584" cy="1069062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22860">
            <a:solidFill>
              <a:srgbClr val="FF8C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21968" y="4901089"/>
            <a:ext cx="712708" cy="102334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7" name="Text 14"/>
          <p:cNvSpPr/>
          <p:nvPr/>
        </p:nvSpPr>
        <p:spPr>
          <a:xfrm>
            <a:off x="6444734" y="5245656"/>
            <a:ext cx="26717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081599" y="5079206"/>
            <a:ext cx="202489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Expliquer les choix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081599" y="5420439"/>
            <a:ext cx="6635115" cy="24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Fournir une explication claire et naturelle générée par IA pour chaque recommandation.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99108" y="6094214"/>
            <a:ext cx="7718584" cy="1069062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22860">
            <a:solidFill>
              <a:srgbClr val="FF8C4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21968" y="6117074"/>
            <a:ext cx="712708" cy="102334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2" name="Text 19"/>
          <p:cNvSpPr/>
          <p:nvPr/>
        </p:nvSpPr>
        <p:spPr>
          <a:xfrm>
            <a:off x="6444734" y="6461641"/>
            <a:ext cx="26717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7081599" y="6295192"/>
            <a:ext cx="202489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Interface fluide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081599" y="6636425"/>
            <a:ext cx="6635115" cy="24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Proposer une application simple, intuitive et entièrement démontrable en soutenance.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007" y="788789"/>
            <a:ext cx="6467832" cy="580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 de la solution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17007" y="1755219"/>
            <a:ext cx="12996386" cy="59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 architecture modulaire en quatre couches, pensée pour être claire, évolutive et maintenable. Chaque composant a un rôle délimité et communique via des interfaces standardisées.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007" y="2568773"/>
            <a:ext cx="6498193" cy="8170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1199" y="3578900"/>
            <a:ext cx="232100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1199" y="3984784"/>
            <a:ext cx="608980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Next.js — formulaire de saisie, affichage des résultats et scores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68773"/>
            <a:ext cx="6498193" cy="8170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19392" y="3578900"/>
            <a:ext cx="232100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519392" y="3984784"/>
            <a:ext cx="608980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— API REST, authentification JWT, endpoints recommandations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07" y="4487108"/>
            <a:ext cx="6498193" cy="8170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1199" y="5497235"/>
            <a:ext cx="2394347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Moteur sémantique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021199" y="5903119"/>
            <a:ext cx="608980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SBERT + similarité cosinus + scoring pondéré multi-axes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487108"/>
            <a:ext cx="6498193" cy="8170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9392" y="5497235"/>
            <a:ext cx="232100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Couche générative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7519392" y="5903119"/>
            <a:ext cx="608980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(Ollama / Claude / Gemini) — enrichissement et explication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817007" y="6622733"/>
            <a:ext cx="12996386" cy="818078"/>
          </a:xfrm>
          <a:prstGeom prst="roundRect">
            <a:avLst>
              <a:gd name="adj" fmla="val 3745"/>
            </a:avLst>
          </a:prstGeom>
          <a:solidFill>
            <a:srgbClr val="26262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199" y="6904911"/>
            <a:ext cx="255270" cy="2041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80661" y="6866811"/>
            <a:ext cx="12128540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 modulaire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: chaque couche peut être remplacée ou améliorée indépendamment.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31" y="653653"/>
            <a:ext cx="6664166" cy="496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Pipeline : de la requête au Top-3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47631" y="1433393"/>
            <a:ext cx="1253501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Chaque requête utilisateur déclenche un pipeline complet, de la saisie brute en langage naturel jusqu'à la livraison des recommandations expliquées.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370" y="1829872"/>
            <a:ext cx="12133540" cy="455306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0555" y="2989620"/>
            <a:ext cx="626748" cy="626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52162" y="5293702"/>
            <a:ext cx="1830104" cy="32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Top‑3</a:t>
            </a:r>
            <a:endParaRPr lang="en-US" sz="2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6070" y="2990795"/>
            <a:ext cx="626748" cy="6267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45730" y="5293702"/>
            <a:ext cx="1830103" cy="32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Calcul</a:t>
            </a:r>
            <a:endParaRPr lang="en-US" sz="2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2174" y="2990795"/>
            <a:ext cx="626748" cy="6267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51833" y="5293702"/>
            <a:ext cx="1830103" cy="32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Comparaison</a:t>
            </a:r>
            <a:endParaRPr lang="en-US" sz="2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8277" y="2990795"/>
            <a:ext cx="626748" cy="6267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157936" y="5293702"/>
            <a:ext cx="1830104" cy="32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Encodage</a:t>
            </a:r>
            <a:endParaRPr lang="en-US" sz="20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21845" y="2990795"/>
            <a:ext cx="626748" cy="62674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813899" y="5293702"/>
            <a:ext cx="1830104" cy="32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Saisie</a:t>
            </a:r>
            <a:endParaRPr lang="en-US" sz="2000" dirty="0"/>
          </a:p>
        </p:txBody>
      </p:sp>
      <p:sp>
        <p:nvSpPr>
          <p:cNvPr id="15" name="Text 7"/>
          <p:cNvSpPr/>
          <p:nvPr/>
        </p:nvSpPr>
        <p:spPr>
          <a:xfrm>
            <a:off x="1047631" y="6542127"/>
            <a:ext cx="1253501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 pipeline garantit que chaque recommandation est ancrée dans la </a:t>
            </a:r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FF8C4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compréhension réelle</a:t>
            </a:r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l'intention utilisateur, et non dans une simple correspondance de mots-clés.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1047631" y="6938605"/>
            <a:ext cx="12535019" cy="637223"/>
          </a:xfrm>
          <a:prstGeom prst="roundRect">
            <a:avLst>
              <a:gd name="adj" fmla="val 4116"/>
            </a:avLst>
          </a:prstGeom>
          <a:solidFill>
            <a:srgbClr val="262626"/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2415" y="7171730"/>
            <a:ext cx="218480" cy="17478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615678" y="7123748"/>
            <a:ext cx="11792188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Optimisation en temps réel</a:t>
            </a:r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: Le pipeline est conçu pour une latence minimale, offrant une expérience fluide typique des plateformes de streaming modernes.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83895"/>
            <a:ext cx="10995898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Cœur technique : SBERT et scoring sémantique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80098" y="1660446"/>
            <a:ext cx="6974443" cy="834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SBERT transforme chaque texte — requête utilisateur ou description de film — en vecteur numérique dense. La similarité cosinus mesure ensuite la proximité géométrique entre ces vecteurs.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0098" y="2653665"/>
            <a:ext cx="697444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score final combine </a:t>
            </a:r>
            <a:pPr algn="l" indent="0" marL="0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quatre dimensions sémantiques</a:t>
            </a:r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auxquelles s'ajoute une légère composante de récence 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2634" y="3408283"/>
            <a:ext cx="6681907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</a:t>
            </a:r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w_mood × mood + w_theme × theme + w_style × style + w_desc × description + w_recency × recency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0098" y="3408283"/>
            <a:ext cx="22860" cy="5564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80098" y="4162901"/>
            <a:ext cx="697444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Cette formule est </a:t>
            </a:r>
            <a:pPr algn="l" indent="0" marL="0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AC9EF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mathématiquement interprétable</a:t>
            </a:r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et ajustable selon les préférences.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37934" y="1797606"/>
            <a:ext cx="4975384" cy="243721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/>
        </p:spPr>
      </p:sp>
      <p:sp>
        <p:nvSpPr>
          <p:cNvPr id="9" name="Shape 7"/>
          <p:cNvSpPr/>
          <p:nvPr/>
        </p:nvSpPr>
        <p:spPr>
          <a:xfrm>
            <a:off x="8237934" y="1797606"/>
            <a:ext cx="1741289" cy="243721"/>
          </a:xfrm>
          <a:prstGeom prst="roundRect">
            <a:avLst>
              <a:gd name="adj" fmla="val 12003"/>
            </a:avLst>
          </a:prstGeom>
          <a:solidFill>
            <a:srgbClr val="9D4EDD"/>
          </a:solidFill>
          <a:ln/>
        </p:spPr>
      </p:sp>
      <p:sp>
        <p:nvSpPr>
          <p:cNvPr id="10" name="Text 8"/>
          <p:cNvSpPr/>
          <p:nvPr/>
        </p:nvSpPr>
        <p:spPr>
          <a:xfrm>
            <a:off x="13359527" y="1797606"/>
            <a:ext cx="498277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35%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37934" y="2270879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37934" y="2997518"/>
            <a:ext cx="4973479" cy="243721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/>
        </p:spPr>
      </p:sp>
      <p:sp>
        <p:nvSpPr>
          <p:cNvPr id="13" name="Shape 11"/>
          <p:cNvSpPr/>
          <p:nvPr/>
        </p:nvSpPr>
        <p:spPr>
          <a:xfrm>
            <a:off x="8237934" y="2997518"/>
            <a:ext cx="1243370" cy="243721"/>
          </a:xfrm>
          <a:prstGeom prst="roundRect">
            <a:avLst>
              <a:gd name="adj" fmla="val 12003"/>
            </a:avLst>
          </a:prstGeom>
          <a:solidFill>
            <a:srgbClr val="9D4EDD"/>
          </a:solidFill>
          <a:ln/>
        </p:spPr>
      </p:sp>
      <p:sp>
        <p:nvSpPr>
          <p:cNvPr id="14" name="Text 12"/>
          <p:cNvSpPr/>
          <p:nvPr/>
        </p:nvSpPr>
        <p:spPr>
          <a:xfrm>
            <a:off x="13357622" y="2997518"/>
            <a:ext cx="500182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25%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37934" y="3470791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Mood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37934" y="4197429"/>
            <a:ext cx="4950619" cy="243721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/>
        </p:spPr>
      </p:sp>
      <p:sp>
        <p:nvSpPr>
          <p:cNvPr id="17" name="Shape 15"/>
          <p:cNvSpPr/>
          <p:nvPr/>
        </p:nvSpPr>
        <p:spPr>
          <a:xfrm>
            <a:off x="8237934" y="4197429"/>
            <a:ext cx="990124" cy="243721"/>
          </a:xfrm>
          <a:prstGeom prst="roundRect">
            <a:avLst>
              <a:gd name="adj" fmla="val 12003"/>
            </a:avLst>
          </a:prstGeom>
          <a:solidFill>
            <a:srgbClr val="9D4EDD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4762" y="4197429"/>
            <a:ext cx="523042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20%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37934" y="4670703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Thème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37934" y="5397341"/>
            <a:ext cx="5021699" cy="243721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7934" y="5397341"/>
            <a:ext cx="753189" cy="243721"/>
          </a:xfrm>
          <a:prstGeom prst="roundRect">
            <a:avLst>
              <a:gd name="adj" fmla="val 12003"/>
            </a:avLst>
          </a:prstGeom>
          <a:solidFill>
            <a:srgbClr val="9D4EDD"/>
          </a:solidFill>
          <a:ln/>
        </p:spPr>
      </p:sp>
      <p:sp>
        <p:nvSpPr>
          <p:cNvPr id="22" name="Text 20"/>
          <p:cNvSpPr/>
          <p:nvPr/>
        </p:nvSpPr>
        <p:spPr>
          <a:xfrm>
            <a:off x="13405842" y="5397341"/>
            <a:ext cx="451961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237934" y="5870615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Style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237934" y="6597253"/>
            <a:ext cx="5117306" cy="243721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/>
        </p:spPr>
      </p:sp>
      <p:sp>
        <p:nvSpPr>
          <p:cNvPr id="25" name="Shape 23"/>
          <p:cNvSpPr/>
          <p:nvPr/>
        </p:nvSpPr>
        <p:spPr>
          <a:xfrm>
            <a:off x="8237934" y="6597253"/>
            <a:ext cx="255865" cy="243721"/>
          </a:xfrm>
          <a:prstGeom prst="roundRect">
            <a:avLst>
              <a:gd name="adj" fmla="val 12003"/>
            </a:avLst>
          </a:prstGeom>
          <a:solidFill>
            <a:srgbClr val="9D4EDD"/>
          </a:solidFill>
          <a:ln/>
        </p:spPr>
      </p:sp>
      <p:sp>
        <p:nvSpPr>
          <p:cNvPr id="26" name="Text 24"/>
          <p:cNvSpPr/>
          <p:nvPr/>
        </p:nvSpPr>
        <p:spPr>
          <a:xfrm>
            <a:off x="13501449" y="6597253"/>
            <a:ext cx="356354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237934" y="7070527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Récence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3407" y="801053"/>
            <a:ext cx="5446276" cy="580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Rôle de l'IA générative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03407" y="1670923"/>
            <a:ext cx="7509986" cy="59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LLM intervient comme une couche d'</a:t>
            </a:r>
            <a:pPr algn="l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enrichissement et d'explicabilité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il améliore la lisibilité sans jamais piloter le classement principal.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03407" y="2484477"/>
            <a:ext cx="3658433" cy="2006798"/>
          </a:xfrm>
          <a:prstGeom prst="roundRect">
            <a:avLst>
              <a:gd name="adj" fmla="val 1527"/>
            </a:avLst>
          </a:prstGeom>
          <a:solidFill>
            <a:srgbClr val="9D4EDD"/>
          </a:solidFill>
          <a:ln/>
        </p:spPr>
      </p:sp>
      <p:sp>
        <p:nvSpPr>
          <p:cNvPr id="6" name="Text 3"/>
          <p:cNvSpPr/>
          <p:nvPr/>
        </p:nvSpPr>
        <p:spPr>
          <a:xfrm>
            <a:off x="6507599" y="2688669"/>
            <a:ext cx="232100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✦ Enrichissement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07599" y="3094553"/>
            <a:ext cx="3250049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Reformule et enrichit les requêtes trop courtes ou vagues, comme "film triste", en profils sémantiques complets exploitables par SBERT.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54960" y="2484477"/>
            <a:ext cx="3658433" cy="2006798"/>
          </a:xfrm>
          <a:prstGeom prst="roundRect">
            <a:avLst>
              <a:gd name="adj" fmla="val 1527"/>
            </a:avLst>
          </a:prstGeom>
          <a:solidFill>
            <a:srgbClr val="9D4EDD"/>
          </a:solidFill>
          <a:ln/>
        </p:spPr>
      </p:sp>
      <p:sp>
        <p:nvSpPr>
          <p:cNvPr id="9" name="Text 6"/>
          <p:cNvSpPr/>
          <p:nvPr/>
        </p:nvSpPr>
        <p:spPr>
          <a:xfrm>
            <a:off x="10359152" y="2688669"/>
            <a:ext cx="232100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✦ Explicabilité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59152" y="3094553"/>
            <a:ext cx="3250049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Génère en langage naturel une explication personnalisée pour chaque film recommandé, compréhensible par l'utilisateur final.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3407" y="4684395"/>
            <a:ext cx="7509986" cy="1410533"/>
          </a:xfrm>
          <a:prstGeom prst="roundRect">
            <a:avLst>
              <a:gd name="adj" fmla="val 2172"/>
            </a:avLst>
          </a:prstGeom>
          <a:solidFill>
            <a:srgbClr val="9D4EDD"/>
          </a:solidFill>
          <a:ln/>
        </p:spPr>
      </p:sp>
      <p:sp>
        <p:nvSpPr>
          <p:cNvPr id="12" name="Text 9"/>
          <p:cNvSpPr/>
          <p:nvPr/>
        </p:nvSpPr>
        <p:spPr>
          <a:xfrm>
            <a:off x="6507599" y="4888587"/>
            <a:ext cx="232100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✦ Non-décisionnel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07599" y="5294471"/>
            <a:ext cx="7101602" cy="59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LLM ne classe pas les films. Le scoring pondéré SBERT reste le cœur décisionnel, garant de la rigueur et de la reproductibilité.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3407" y="6312218"/>
            <a:ext cx="7509986" cy="1116211"/>
          </a:xfrm>
          <a:prstGeom prst="roundRect">
            <a:avLst>
              <a:gd name="adj" fmla="val 2745"/>
            </a:avLst>
          </a:prstGeom>
          <a:solidFill>
            <a:srgbClr val="26262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599" y="6594396"/>
            <a:ext cx="255270" cy="204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67061" y="6556296"/>
            <a:ext cx="6642140" cy="59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FF8C4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Principe clé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: GenAI = enrichissement + lisibilité. Le moteur sémantique = décision + rigueur.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61693"/>
            <a:ext cx="5653326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Démonstration rapide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207062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Exemple de requête réelle : </a:t>
            </a:r>
            <a:pPr algn="l" indent="0" marL="0">
              <a:lnSpc>
                <a:spcPts val="2550"/>
              </a:lnSpc>
              <a:buNone/>
            </a:pPr>
            <a:r>
              <a:rPr lang="en-US" sz="1700" i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"Je veux un thriller de science-fiction sombre, tendu, avec du mystère et une ambiance oppressante."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773918"/>
            <a:ext cx="2390061" cy="1477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3798" y="4520922"/>
            <a:ext cx="334672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 — Saisie des préférences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3798" y="4957167"/>
            <a:ext cx="41209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L'utilisateur décrit librement son envie, sélectionne mood, genre et style via l'interface Next.js.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04" y="2773918"/>
            <a:ext cx="2390061" cy="14770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4704" y="4520922"/>
            <a:ext cx="274974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— Calcul du scoring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254704" y="4957167"/>
            <a:ext cx="41209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backend encode le profil, compare aux embeddings films et calcule les scores pondérés en temps réel.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610" y="2773918"/>
            <a:ext cx="2390061" cy="14770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5610" y="4520922"/>
            <a:ext cx="343400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 — Résultats + explication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645610" y="4957167"/>
            <a:ext cx="41209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Top-3 s'affiche avec les scores par axe et une explication IA naturelle pour chaque film proposé.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863798" y="6171962"/>
            <a:ext cx="12902803" cy="895945"/>
          </a:xfrm>
          <a:prstGeom prst="roundRect">
            <a:avLst>
              <a:gd name="adj" fmla="val 3616"/>
            </a:avLst>
          </a:prstGeom>
          <a:solidFill>
            <a:srgbClr val="26262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59" y="6481405"/>
            <a:ext cx="269915" cy="215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65434" y="6441758"/>
            <a:ext cx="1198530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Flux de travail 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Optimisation en temps réel pour une expérience utilisateur fluide et immersive.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51553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critique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996922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projet solide et démontrable aujourd'hui, avec une trajectoire claire d'amélioration continue.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3563779"/>
            <a:ext cx="12902803" cy="271426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863798" y="3563779"/>
            <a:ext cx="4300895" cy="271426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079659" y="3779639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💪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Forces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9659" y="4215884"/>
            <a:ext cx="3869174" cy="1846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Personnalisation sémantique multi-axes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Explicabilité utilisateur intégrée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complète et fonctionnelle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 modulaire et évolutive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164693" y="3563779"/>
            <a:ext cx="4300895" cy="271426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9" name="Shape 7"/>
          <p:cNvSpPr/>
          <p:nvPr/>
        </p:nvSpPr>
        <p:spPr>
          <a:xfrm>
            <a:off x="5164693" y="3563779"/>
            <a:ext cx="30480" cy="2714268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/>
        </p:spPr>
      </p:sp>
      <p:sp>
        <p:nvSpPr>
          <p:cNvPr id="10" name="Text 8"/>
          <p:cNvSpPr/>
          <p:nvPr/>
        </p:nvSpPr>
        <p:spPr>
          <a:xfrm>
            <a:off x="5380553" y="3779639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⚠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Limites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380553" y="4215884"/>
            <a:ext cx="3869174" cy="1770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statique, non mis à jour en temps réel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Évaluation utilisateur encore limitée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Latence LLM variable selon le fournisseur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465588" y="3563779"/>
            <a:ext cx="4301014" cy="271426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3" name="Shape 11"/>
          <p:cNvSpPr/>
          <p:nvPr/>
        </p:nvSpPr>
        <p:spPr>
          <a:xfrm>
            <a:off x="9465588" y="3563779"/>
            <a:ext cx="30480" cy="2714268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/>
        </p:spPr>
      </p:sp>
      <p:sp>
        <p:nvSpPr>
          <p:cNvPr id="14" name="Text 12"/>
          <p:cNvSpPr/>
          <p:nvPr/>
        </p:nvSpPr>
        <p:spPr>
          <a:xfrm>
            <a:off x="9681448" y="3779639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🚀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Perspectives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81448" y="4215884"/>
            <a:ext cx="3869293" cy="15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Évaluation à plus grande échelle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Boucle de feedback utilisateur continu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Optimisation latence et coût LLM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Enrichissement dynamique du dataset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807482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198" y="1744861"/>
            <a:ext cx="7416403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CineMatch démontre qu'il est possible de construire un moteur de recommandation qui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comprend véritablement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les intentions utilisateur, au-delà du simple filtrage par mots-clés.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50198" y="2959656"/>
            <a:ext cx="3600212" cy="1839873"/>
          </a:xfrm>
          <a:prstGeom prst="roundRect">
            <a:avLst>
              <a:gd name="adj" fmla="val 1761"/>
            </a:avLst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6566059" y="317551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Pertinence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66059" y="3611761"/>
            <a:ext cx="3168491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scoring sémantique multi-axes ancré dans SBERT et la similarité cosinus.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66271" y="2959656"/>
            <a:ext cx="3600331" cy="1839873"/>
          </a:xfrm>
          <a:prstGeom prst="roundRect">
            <a:avLst>
              <a:gd name="adj" fmla="val 1761"/>
            </a:avLst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10382131" y="317551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Explicabilité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82131" y="3611761"/>
            <a:ext cx="3168610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 recommandations justifiées en langage naturel, compréhensibles par tous.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350198" y="5015389"/>
            <a:ext cx="7416403" cy="1515904"/>
          </a:xfrm>
          <a:prstGeom prst="roundRect">
            <a:avLst>
              <a:gd name="adj" fmla="val 2137"/>
            </a:avLst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6566059" y="5231249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Évolution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566059" y="5667494"/>
            <a:ext cx="6984682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 architecture modulaire prête pour le feedback utilisateur et la montée en échelle.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50198" y="6774180"/>
            <a:ext cx="74164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Merci pour votre attention.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9D4ED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Nous sommes disponibles pour répondre à vos questions.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2026-03-18T15:27:50Z</dcterms:created>
  <dcterms:modified xsi:type="dcterms:W3CDTF">2026-03-18T15:27:50Z</dcterms:modified>
</cp:coreProperties>
</file>